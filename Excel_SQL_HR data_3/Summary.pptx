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lham\Downloads\jobs\project2\Data_Analysis_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>
                <a:solidFill>
                  <a:sysClr val="windowText" lastClr="000000"/>
                </a:solidFill>
              </a:rPr>
              <a:t>Distribution of Employees per Department</a:t>
            </a:r>
            <a:endParaRPr lang="en-US" sz="18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DaprtmentNumEmployee!$B$1</c:f>
              <c:strCache>
                <c:ptCount val="1"/>
                <c:pt idx="0">
                  <c:v>TotalEmployee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0B-4C8A-92AC-F6A5D4072FE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0B-4C8A-92AC-F6A5D4072FE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0B-4C8A-92AC-F6A5D4072FE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10B-4C8A-92AC-F6A5D4072FE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10B-4C8A-92AC-F6A5D4072FEA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10B-4C8A-92AC-F6A5D4072FE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DaprtmentNumEmployee!$A$2:$A$7</c:f>
              <c:strCache>
                <c:ptCount val="6"/>
                <c:pt idx="0">
                  <c:v>Production       </c:v>
                </c:pt>
                <c:pt idx="1">
                  <c:v>IT/IS</c:v>
                </c:pt>
                <c:pt idx="2">
                  <c:v>Software Engineering</c:v>
                </c:pt>
                <c:pt idx="3">
                  <c:v>Admin Offices</c:v>
                </c:pt>
                <c:pt idx="4">
                  <c:v>Sales</c:v>
                </c:pt>
                <c:pt idx="5">
                  <c:v>Executive Office</c:v>
                </c:pt>
              </c:strCache>
            </c:strRef>
          </c:cat>
          <c:val>
            <c:numRef>
              <c:f>DaprtmentNumEmployee!$B$2:$B$7</c:f>
              <c:numCache>
                <c:formatCode>General</c:formatCode>
                <c:ptCount val="6"/>
                <c:pt idx="0">
                  <c:v>209</c:v>
                </c:pt>
                <c:pt idx="1">
                  <c:v>50</c:v>
                </c:pt>
                <c:pt idx="2">
                  <c:v>11</c:v>
                </c:pt>
                <c:pt idx="3">
                  <c:v>9</c:v>
                </c:pt>
                <c:pt idx="4">
                  <c:v>31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10B-4C8A-92AC-F6A5D4072FE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041866129674056"/>
          <c:y val="0.33988513875086002"/>
          <c:w val="0.29736409782518014"/>
          <c:h val="0.429194314193871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>
                <a:solidFill>
                  <a:sysClr val="windowText" lastClr="000000"/>
                </a:solidFill>
              </a:rPr>
              <a:t>Gender Distribution of Employees</a:t>
            </a:r>
            <a:endParaRPr lang="en-US" sz="18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474014532408262"/>
          <c:y val="0.20739312123759193"/>
          <c:w val="0.39643723754601801"/>
          <c:h val="0.60702452293204379"/>
        </c:manualLayout>
      </c:layout>
      <c:pieChart>
        <c:varyColors val="1"/>
        <c:ser>
          <c:idx val="0"/>
          <c:order val="0"/>
          <c:tx>
            <c:strRef>
              <c:f>GenderEmployee!$B$1</c:f>
              <c:strCache>
                <c:ptCount val="1"/>
                <c:pt idx="0">
                  <c:v>count(*)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333-4DD1-B183-4A1FA917178C}"/>
              </c:ext>
            </c:extLst>
          </c:dPt>
          <c:dPt>
            <c:idx val="1"/>
            <c:bubble3D val="0"/>
            <c:spPr>
              <a:solidFill>
                <a:schemeClr val="accent2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333-4DD1-B183-4A1FA917178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GenderEmployee!$A$2:$A$3</c:f>
              <c:strCache>
                <c:ptCount val="2"/>
                <c:pt idx="0">
                  <c:v>M </c:v>
                </c:pt>
                <c:pt idx="1">
                  <c:v>F</c:v>
                </c:pt>
              </c:strCache>
            </c:strRef>
          </c:cat>
          <c:val>
            <c:numRef>
              <c:f>GenderEmployee!$B$2:$B$3</c:f>
              <c:numCache>
                <c:formatCode>General</c:formatCode>
                <c:ptCount val="2"/>
                <c:pt idx="0">
                  <c:v>135</c:v>
                </c:pt>
                <c:pt idx="1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33-4DD1-B183-4A1FA917178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[Data_Analysis_Project.xlsx]Hr_data_pivot!PivotTable25</c:name>
    <c:fmtId val="2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Hr_data_pivot!$B$3:$B$4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Hr_data_pivot!$A$5:$A$11</c:f>
              <c:strCache>
                <c:ptCount val="6"/>
                <c:pt idx="0">
                  <c:v>Admin Offices</c:v>
                </c:pt>
                <c:pt idx="1">
                  <c:v>Executive Office</c:v>
                </c:pt>
                <c:pt idx="2">
                  <c:v>IT/IS</c:v>
                </c:pt>
                <c:pt idx="3">
                  <c:v>Production</c:v>
                </c:pt>
                <c:pt idx="4">
                  <c:v>Sales</c:v>
                </c:pt>
                <c:pt idx="5">
                  <c:v>Software Engineering</c:v>
                </c:pt>
              </c:strCache>
            </c:strRef>
          </c:cat>
          <c:val>
            <c:numRef>
              <c:f>Hr_data_pivot!$B$5:$B$11</c:f>
              <c:numCache>
                <c:formatCode>General</c:formatCode>
                <c:ptCount val="6"/>
                <c:pt idx="0">
                  <c:v>425558</c:v>
                </c:pt>
                <c:pt idx="1">
                  <c:v>250000</c:v>
                </c:pt>
                <c:pt idx="2">
                  <c:v>2081046</c:v>
                </c:pt>
                <c:pt idx="3">
                  <c:v>7512173</c:v>
                </c:pt>
                <c:pt idx="4">
                  <c:v>1080250</c:v>
                </c:pt>
                <c:pt idx="5">
                  <c:v>581437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DA-44C3-B8AB-B22E874E9081}"/>
            </c:ext>
          </c:extLst>
        </c:ser>
        <c:ser>
          <c:idx val="1"/>
          <c:order val="1"/>
          <c:tx>
            <c:strRef>
              <c:f>Hr_data_pivot!$C$3:$C$4</c:f>
              <c:strCache>
                <c:ptCount val="1"/>
                <c:pt idx="0">
                  <c:v>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Hr_data_pivot!$A$5:$A$11</c:f>
              <c:strCache>
                <c:ptCount val="6"/>
                <c:pt idx="0">
                  <c:v>Admin Offices</c:v>
                </c:pt>
                <c:pt idx="1">
                  <c:v>Executive Office</c:v>
                </c:pt>
                <c:pt idx="2">
                  <c:v>IT/IS</c:v>
                </c:pt>
                <c:pt idx="3">
                  <c:v>Production</c:v>
                </c:pt>
                <c:pt idx="4">
                  <c:v>Sales</c:v>
                </c:pt>
                <c:pt idx="5">
                  <c:v>Software Engineering</c:v>
                </c:pt>
              </c:strCache>
            </c:strRef>
          </c:cat>
          <c:val>
            <c:numRef>
              <c:f>Hr_data_pivot!$C$5:$C$11</c:f>
              <c:numCache>
                <c:formatCode>General</c:formatCode>
                <c:ptCount val="6"/>
                <c:pt idx="0">
                  <c:v>220569</c:v>
                </c:pt>
                <c:pt idx="2">
                  <c:v>2772186</c:v>
                </c:pt>
                <c:pt idx="3">
                  <c:v>5018118</c:v>
                </c:pt>
                <c:pt idx="4">
                  <c:v>1060649</c:v>
                </c:pt>
                <c:pt idx="5">
                  <c:v>463447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DA-44C3-B8AB-B22E874E90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6476816"/>
        <c:axId val="736478256"/>
      </c:barChart>
      <c:catAx>
        <c:axId val="7364768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ysClr val="windowText" lastClr="000000"/>
                    </a:solidFill>
                  </a:rPr>
                  <a:t>Gender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6478256"/>
        <c:crosses val="autoZero"/>
        <c:auto val="1"/>
        <c:lblAlgn val="ctr"/>
        <c:lblOffset val="100"/>
        <c:noMultiLvlLbl val="0"/>
      </c:catAx>
      <c:valAx>
        <c:axId val="73647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ysClr val="windowText" lastClr="000000"/>
                    </a:solidFill>
                  </a:rPr>
                  <a:t>Salary</a:t>
                </a:r>
              </a:p>
              <a:p>
                <a:pPr>
                  <a:defRPr sz="1400" b="1">
                    <a:solidFill>
                      <a:sysClr val="windowText" lastClr="000000"/>
                    </a:solidFill>
                  </a:defRPr>
                </a:pPr>
                <a:endParaRPr lang="en-US" sz="1400" b="1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647681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[Data_Analysis_Project.xlsx]Hr_data_pivot!PivotTable26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>
                <a:solidFill>
                  <a:sysClr val="windowText" lastClr="000000"/>
                </a:solidFill>
              </a:rPr>
              <a:t>Overall Gender Salary Share</a:t>
            </a:r>
            <a:endParaRPr lang="en-US" sz="18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36418247014891"/>
              <c:y val="-4.113479717474340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473658552364054"/>
              <c:y val="1.71314967742853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36418247014891"/>
              <c:y val="-4.113479717474340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473658552364054"/>
              <c:y val="1.71314967742853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36418247014891"/>
              <c:y val="-4.113479717474340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473658552364054"/>
              <c:y val="1.71314967742853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Hr_data_pivot!$B$40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E30-4D63-ACC2-65A1A009888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E30-4D63-ACC2-65A1A009888B}"/>
              </c:ext>
            </c:extLst>
          </c:dPt>
          <c:dLbls>
            <c:dLbl>
              <c:idx val="0"/>
              <c:layout>
                <c:manualLayout>
                  <c:x val="-0.16136418247014891"/>
                  <c:y val="-4.113479717474340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E30-4D63-ACC2-65A1A009888B}"/>
                </c:ext>
              </c:extLst>
            </c:dLbl>
            <c:dLbl>
              <c:idx val="1"/>
              <c:layout>
                <c:manualLayout>
                  <c:x val="0.13473658552364054"/>
                  <c:y val="1.71314967742853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E30-4D63-ACC2-65A1A00988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Hr_data_pivot!$A$41:$A$43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Hr_data_pivot!$B$41:$B$43</c:f>
              <c:numCache>
                <c:formatCode>General</c:formatCode>
                <c:ptCount val="2"/>
                <c:pt idx="0">
                  <c:v>11930464</c:v>
                </c:pt>
                <c:pt idx="1">
                  <c:v>9534969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E30-4D63-ACC2-65A1A009888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[Data_Analysis_Project.xlsx]Hr_data_pivot!PivotTable27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GB" sz="1800" b="1" i="0" u="none" strike="noStrike" kern="1200" spc="0" baseline="0" dirty="0">
                <a:solidFill>
                  <a:sysClr val="windowText" lastClr="000000"/>
                </a:solidFill>
              </a:rPr>
              <a:t>Salary Distribution by Department </a:t>
            </a:r>
            <a:endParaRPr lang="en-US" sz="180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Hr_data_pivot!$J$45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2F2-4E4A-8708-D9752B1EB77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2F2-4E4A-8708-D9752B1EB77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2F2-4E4A-8708-D9752B1EB77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2F2-4E4A-8708-D9752B1EB77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2F2-4E4A-8708-D9752B1EB77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2F2-4E4A-8708-D9752B1EB7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Hr_data_pivot!$I$46:$I$52</c:f>
              <c:strCache>
                <c:ptCount val="6"/>
                <c:pt idx="0">
                  <c:v>Admin Offices</c:v>
                </c:pt>
                <c:pt idx="1">
                  <c:v>Executive Office</c:v>
                </c:pt>
                <c:pt idx="2">
                  <c:v>IT/IS</c:v>
                </c:pt>
                <c:pt idx="3">
                  <c:v>Production</c:v>
                </c:pt>
                <c:pt idx="4">
                  <c:v>Sales</c:v>
                </c:pt>
                <c:pt idx="5">
                  <c:v>Software Engineering</c:v>
                </c:pt>
              </c:strCache>
            </c:strRef>
          </c:cat>
          <c:val>
            <c:numRef>
              <c:f>Hr_data_pivot!$J$46:$J$52</c:f>
              <c:numCache>
                <c:formatCode>General</c:formatCode>
                <c:ptCount val="6"/>
                <c:pt idx="0">
                  <c:v>646127</c:v>
                </c:pt>
                <c:pt idx="1">
                  <c:v>250000</c:v>
                </c:pt>
                <c:pt idx="2">
                  <c:v>4853232</c:v>
                </c:pt>
                <c:pt idx="3">
                  <c:v>12530291</c:v>
                </c:pt>
                <c:pt idx="4">
                  <c:v>2140899</c:v>
                </c:pt>
                <c:pt idx="5">
                  <c:v>1044884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2F2-4E4A-8708-D9752B1EB77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[Data_Analysis_Project.xlsx]Hr_data_pivot!PivotTable29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>
                <a:solidFill>
                  <a:sysClr val="windowText" lastClr="000000"/>
                </a:solidFill>
              </a:rPr>
              <a:t>Employment Status distribution (Active vs Terminated)</a:t>
            </a:r>
            <a:endParaRPr lang="en-US" sz="1800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>
              <a:shade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>
              <a:tint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>
              <a:shade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>
              <a:tint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4">
              <a:shade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>
              <a:tint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Hr_data_pivot!$B$100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E2-4BE6-9DDA-0F5099DDCD09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AE2-4BE6-9DDA-0F5099DDCD09}"/>
              </c:ext>
            </c:extLst>
          </c:dPt>
          <c:dPt>
            <c:idx val="2"/>
            <c:bubble3D val="0"/>
            <c:spPr>
              <a:solidFill>
                <a:schemeClr val="accent4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AE2-4BE6-9DDA-0F5099DDCD0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E2-4BE6-9DDA-0F5099DDCD0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E2-4BE6-9DDA-0F5099DDCD09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E2-4BE6-9DDA-0F5099DDCD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Hr_data_pivot!$A$101:$A$104</c:f>
              <c:strCache>
                <c:ptCount val="3"/>
                <c:pt idx="0">
                  <c:v>Active</c:v>
                </c:pt>
                <c:pt idx="1">
                  <c:v>Terminated for Cause</c:v>
                </c:pt>
                <c:pt idx="2">
                  <c:v>Voluntarily Terminated</c:v>
                </c:pt>
              </c:strCache>
            </c:strRef>
          </c:cat>
          <c:val>
            <c:numRef>
              <c:f>Hr_data_pivot!$B$101:$B$104</c:f>
              <c:numCache>
                <c:formatCode>General</c:formatCode>
                <c:ptCount val="3"/>
                <c:pt idx="0">
                  <c:v>207</c:v>
                </c:pt>
                <c:pt idx="1">
                  <c:v>16</c:v>
                </c:pt>
                <c:pt idx="2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E2-4BE6-9DDA-0F5099DDCD0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286974478319478"/>
          <c:y val="0.2411804204894388"/>
          <c:w val="0.34260146549703946"/>
          <c:h val="0.235047332433693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[Data_Analysis_Project.xlsx]TerminatedVoluntarilyTermReason!PivotTable31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Voluntary Termination</a:t>
            </a:r>
          </a:p>
        </c:rich>
      </c:tx>
      <c:layout>
        <c:manualLayout>
          <c:xMode val="edge"/>
          <c:yMode val="edge"/>
          <c:x val="0.17482077919228597"/>
          <c:y val="2.46512397897673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TerminatedVoluntarilyTermReason!$B$20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64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TerminatedVoluntarilyTermReason!$A$21:$A$34</c:f>
              <c:strCache>
                <c:ptCount val="13"/>
                <c:pt idx="0">
                  <c:v>Another position</c:v>
                </c:pt>
                <c:pt idx="1">
                  <c:v>attendance</c:v>
                </c:pt>
                <c:pt idx="2">
                  <c:v>career change</c:v>
                </c:pt>
                <c:pt idx="3">
                  <c:v>hours</c:v>
                </c:pt>
                <c:pt idx="4">
                  <c:v>maternity leave - did not return</c:v>
                </c:pt>
                <c:pt idx="5">
                  <c:v>medical issues</c:v>
                </c:pt>
                <c:pt idx="6">
                  <c:v>military</c:v>
                </c:pt>
                <c:pt idx="7">
                  <c:v>more money</c:v>
                </c:pt>
                <c:pt idx="8">
                  <c:v>performance</c:v>
                </c:pt>
                <c:pt idx="9">
                  <c:v>relocation out of area</c:v>
                </c:pt>
                <c:pt idx="10">
                  <c:v>retiring</c:v>
                </c:pt>
                <c:pt idx="11">
                  <c:v>return to school</c:v>
                </c:pt>
                <c:pt idx="12">
                  <c:v>unhappy</c:v>
                </c:pt>
              </c:strCache>
            </c:strRef>
          </c:cat>
          <c:val>
            <c:numRef>
              <c:f>TerminatedVoluntarilyTermReason!$B$21:$B$34</c:f>
              <c:numCache>
                <c:formatCode>General</c:formatCode>
                <c:ptCount val="13"/>
                <c:pt idx="0">
                  <c:v>20</c:v>
                </c:pt>
                <c:pt idx="1">
                  <c:v>1</c:v>
                </c:pt>
                <c:pt idx="2">
                  <c:v>9</c:v>
                </c:pt>
                <c:pt idx="3">
                  <c:v>8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  <c:pt idx="7">
                  <c:v>11</c:v>
                </c:pt>
                <c:pt idx="8">
                  <c:v>1</c:v>
                </c:pt>
                <c:pt idx="9">
                  <c:v>5</c:v>
                </c:pt>
                <c:pt idx="10">
                  <c:v>4</c:v>
                </c:pt>
                <c:pt idx="11">
                  <c:v>5</c:v>
                </c:pt>
                <c:pt idx="1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DE-404B-9CD9-263515452D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194654448"/>
        <c:axId val="514790144"/>
        <c:axId val="0"/>
      </c:bar3DChart>
      <c:catAx>
        <c:axId val="194654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4790144"/>
        <c:crosses val="autoZero"/>
        <c:auto val="1"/>
        <c:lblAlgn val="ctr"/>
        <c:lblOffset val="100"/>
        <c:noMultiLvlLbl val="0"/>
      </c:catAx>
      <c:valAx>
        <c:axId val="5147901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4654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 err="1">
                <a:solidFill>
                  <a:sysClr val="windowText" lastClr="000000"/>
                </a:solidFill>
              </a:rPr>
              <a:t>EmployeeNu</a:t>
            </a:r>
            <a:r>
              <a:rPr lang="en-US" sz="1800" b="1" i="0" u="none" strike="noStrike" baseline="0" dirty="0" err="1">
                <a:solidFill>
                  <a:sysClr val="windowText" lastClr="000000"/>
                </a:solidFill>
              </a:rPr>
              <a:t>Employee</a:t>
            </a:r>
            <a:r>
              <a:rPr lang="en-US" sz="1800" b="1" i="0" u="none" strike="noStrike" baseline="0" dirty="0">
                <a:solidFill>
                  <a:sysClr val="windowText" lastClr="000000"/>
                </a:solidFill>
              </a:rPr>
              <a:t> Performance Overview</a:t>
            </a:r>
            <a:endParaRPr lang="en-US" sz="1800" b="1" dirty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PerformanceScoreEmpNum!$B$1</c:f>
              <c:strCache>
                <c:ptCount val="1"/>
                <c:pt idx="0">
                  <c:v>EmployeeNum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76-4759-8E78-B3E2416473FB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76-4759-8E78-B3E2416473FB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76-4759-8E78-B3E2416473FB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76-4759-8E78-B3E2416473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PerformanceScoreEmpNum!$A$2:$A$5</c:f>
              <c:strCache>
                <c:ptCount val="4"/>
                <c:pt idx="0">
                  <c:v>Exceeds</c:v>
                </c:pt>
                <c:pt idx="1">
                  <c:v>Fully Meets</c:v>
                </c:pt>
                <c:pt idx="2">
                  <c:v>Needs Improvement</c:v>
                </c:pt>
                <c:pt idx="3">
                  <c:v>PIP</c:v>
                </c:pt>
              </c:strCache>
            </c:strRef>
          </c:cat>
          <c:val>
            <c:numRef>
              <c:f>PerformanceScoreEmpNum!$B$2:$B$5</c:f>
              <c:numCache>
                <c:formatCode>General</c:formatCode>
                <c:ptCount val="4"/>
                <c:pt idx="0">
                  <c:v>37</c:v>
                </c:pt>
                <c:pt idx="1">
                  <c:v>243</c:v>
                </c:pt>
                <c:pt idx="2">
                  <c:v>18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B76-4759-8E78-B3E2416473F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17314085739283"/>
          <c:y val="0.39951261300670748"/>
          <c:w val="0.32543124817731117"/>
          <c:h val="0.362929158795768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[Data_Analysis_Project.xlsx]Hr_data_pivot!PivotTable30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 dirty="0">
                <a:solidFill>
                  <a:sysClr val="windowText" lastClr="000000"/>
                </a:solidFill>
              </a:rPr>
              <a:t>Exploring the Relationship Between Attendance, Engagement, and Performance</a:t>
            </a:r>
            <a:endParaRPr lang="en-US" sz="1800" b="1" dirty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Hr_data_pivot!$B$120</c:f>
              <c:strCache>
                <c:ptCount val="1"/>
                <c:pt idx="0">
                  <c:v>Average of Days Late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Hr_data_pivot!$A$121:$A$125</c:f>
              <c:strCache>
                <c:ptCount val="4"/>
                <c:pt idx="0">
                  <c:v>Exceeds</c:v>
                </c:pt>
                <c:pt idx="1">
                  <c:v>Fully Meets</c:v>
                </c:pt>
                <c:pt idx="2">
                  <c:v>Needs Improvement</c:v>
                </c:pt>
                <c:pt idx="3">
                  <c:v>PIP</c:v>
                </c:pt>
              </c:strCache>
            </c:strRef>
          </c:cat>
          <c:val>
            <c:numRef>
              <c:f>Hr_data_pivot!$B$121:$B$125</c:f>
              <c:numCache>
                <c:formatCode>General</c:formatCode>
                <c:ptCount val="4"/>
                <c:pt idx="0">
                  <c:v>0</c:v>
                </c:pt>
                <c:pt idx="1">
                  <c:v>2.0576131687242798E-2</c:v>
                </c:pt>
                <c:pt idx="2">
                  <c:v>3.7777777777777777</c:v>
                </c:pt>
                <c:pt idx="3">
                  <c:v>4.3076923076923075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B-401B-9FAE-C8F5C4168281}"/>
            </c:ext>
          </c:extLst>
        </c:ser>
        <c:ser>
          <c:idx val="1"/>
          <c:order val="1"/>
          <c:tx>
            <c:strRef>
              <c:f>Hr_data_pivot!$C$120</c:f>
              <c:strCache>
                <c:ptCount val="1"/>
                <c:pt idx="0">
                  <c:v>Average of Absences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Hr_data_pivot!$A$121:$A$125</c:f>
              <c:strCache>
                <c:ptCount val="4"/>
                <c:pt idx="0">
                  <c:v>Exceeds</c:v>
                </c:pt>
                <c:pt idx="1">
                  <c:v>Fully Meets</c:v>
                </c:pt>
                <c:pt idx="2">
                  <c:v>Needs Improvement</c:v>
                </c:pt>
                <c:pt idx="3">
                  <c:v>PIP</c:v>
                </c:pt>
              </c:strCache>
            </c:strRef>
          </c:cat>
          <c:val>
            <c:numRef>
              <c:f>Hr_data_pivot!$C$121:$C$125</c:f>
              <c:numCache>
                <c:formatCode>General</c:formatCode>
                <c:ptCount val="4"/>
                <c:pt idx="0">
                  <c:v>10.486486486486486</c:v>
                </c:pt>
                <c:pt idx="1">
                  <c:v>10.222222222222221</c:v>
                </c:pt>
                <c:pt idx="2">
                  <c:v>11.333333333333334</c:v>
                </c:pt>
                <c:pt idx="3">
                  <c:v>8.3076923076923084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B-401B-9FAE-C8F5C4168281}"/>
            </c:ext>
          </c:extLst>
        </c:ser>
        <c:ser>
          <c:idx val="2"/>
          <c:order val="2"/>
          <c:tx>
            <c:strRef>
              <c:f>Hr_data_pivot!$D$120</c:f>
              <c:strCache>
                <c:ptCount val="1"/>
                <c:pt idx="0">
                  <c:v>Average of Employees Satisfaction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Hr_data_pivot!$A$121:$A$125</c:f>
              <c:strCache>
                <c:ptCount val="4"/>
                <c:pt idx="0">
                  <c:v>Exceeds</c:v>
                </c:pt>
                <c:pt idx="1">
                  <c:v>Fully Meets</c:v>
                </c:pt>
                <c:pt idx="2">
                  <c:v>Needs Improvement</c:v>
                </c:pt>
                <c:pt idx="3">
                  <c:v>PIP</c:v>
                </c:pt>
              </c:strCache>
            </c:strRef>
          </c:cat>
          <c:val>
            <c:numRef>
              <c:f>Hr_data_pivot!$D$121:$D$125</c:f>
              <c:numCache>
                <c:formatCode>General</c:formatCode>
                <c:ptCount val="4"/>
                <c:pt idx="0">
                  <c:v>4.1081081081081079</c:v>
                </c:pt>
                <c:pt idx="1">
                  <c:v>3.9506172839506171</c:v>
                </c:pt>
                <c:pt idx="2">
                  <c:v>3.6111111111111112</c:v>
                </c:pt>
                <c:pt idx="3">
                  <c:v>2.5384615384615383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BB-401B-9FAE-C8F5C41682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3296944"/>
        <c:axId val="943297424"/>
      </c:barChart>
      <c:catAx>
        <c:axId val="94329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297424"/>
        <c:crosses val="autoZero"/>
        <c:auto val="1"/>
        <c:lblAlgn val="ctr"/>
        <c:lblOffset val="100"/>
        <c:noMultiLvlLbl val="0"/>
      </c:catAx>
      <c:valAx>
        <c:axId val="943297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29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064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3859-9AE3-E6E6-7B63-AB96FA8CB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74348-6BE6-9C50-5E3C-43FD2BFB9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7D432-A786-41AA-7A3A-762B347F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6135E-3FF5-0B08-0FBD-39F09849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B4526-5627-866E-292B-A033FC44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9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21E2-6C15-FE80-B3D6-29146D4D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B37DC-86AF-A95A-DE35-0DEE99555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46F0-8DCC-AC12-4A71-8EA23642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2B21F-ED4C-5362-E4A7-BBFF5B68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7A45A-5377-26E9-6A9B-DECDE954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0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1592-2D0F-E6F6-D697-C5929EB9A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28893-958B-3196-4E7E-5E6EBB848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C1058-C173-374F-5156-2753F79F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57AEE-9767-675A-9198-41450310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023D4-AC17-4534-1E29-E8CAF7D7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98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4065-0224-196E-A18E-835D7938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1F5F2-CF8D-0FC6-6A38-6CDE47CDB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6123E-70E2-A43D-F6ED-B248A1CE6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69793-2B6A-D112-9AF4-03EF867E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083BA-89E9-29C1-2DB1-545D5CBF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13719-066C-C9CD-412D-7412988E3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5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A8B7-65BD-9AE9-FCAC-92BD5048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2A46C-3A86-C4CD-9544-CE60D379E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6A38D-1B65-5637-8E54-695CE3CEA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BBB1E-1405-3B96-2992-0D8AB7658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E5DBE-1A32-2132-E1B9-38B502F49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58FA1-691B-EE6E-8550-A9765C13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CE5388-5167-C2D1-01B7-C8B429AF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AA036-2CF5-CF4F-2988-DEF83B73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08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49E4-212E-0713-A61B-684161C0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A1B01-17C5-13D3-183B-7DFCE958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8FE7-0668-7A16-704F-1075569D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ABC49-E0CA-009D-3ABF-8FDA226D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3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64A66-3C42-E1C4-D109-C92BA1C5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AAAA6-00D6-AF63-95B9-1272922E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7B03C-32B2-1AA8-9A90-42865839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3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A353-5103-4D10-C877-BE3BD1609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BD833-BE8A-129E-A859-77FF2B4DD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3F453-F998-DCBA-674A-95F0D99DB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27329-0A21-01D8-B826-2FA9422A8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42FA2-4CB3-3620-BDC7-A5AB700C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ACAAB-78C8-BF42-08FA-4AB42E59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7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F7F7-1F50-40EB-5141-2C083309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D66D61-D1A0-E0D5-9F07-FFF8CF33C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8B664-3BDD-9150-80C9-D6B0B9247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2B424-BC42-03A7-65CD-087B2304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F96E5-6039-E627-F187-EAF42D5D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77BBE-F0C0-1644-C760-7CA66999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5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1D45-BD23-567F-B088-8C605485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2CA43-73D3-3EB4-68D6-5D2EB0B7D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89960-5394-2613-837B-F6D67F1D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522FC-8371-A1A1-3146-0DD37066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67EF6-BCF7-F9CE-3EB8-8A1D9B68B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0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A29A5-28FE-733F-14CA-0D44B11F5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5E8B5-4EF5-DBCD-4736-6454206AC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A9B9A-9B4D-95C1-5283-7475780CC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079E-78DE-5C03-19C1-4F1D7D65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C8DC5-B04A-0762-546A-B4882973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4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1BAF-DA81-A80A-8CDF-6E084A23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C219C-FDE3-E607-DA34-5D67F3089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A6A9C-2E79-B1E4-C1B4-85923605A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B6965-4925-4524-904E-3183F2A6EF8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6B77A-C3BB-F04B-CD09-BB9962091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93E04-D094-F7F5-CEC7-DBA0964E0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364C-48A0-44FB-A60A-E39F5D903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2E2A6F5-1609-C603-96D8-19C7ADA5CC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6413708"/>
              </p:ext>
            </p:extLst>
          </p:nvPr>
        </p:nvGraphicFramePr>
        <p:xfrm>
          <a:off x="0" y="1243631"/>
          <a:ext cx="62331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3F18E91-0F33-C61B-75E8-C801123DFE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063208"/>
              </p:ext>
            </p:extLst>
          </p:nvPr>
        </p:nvGraphicFramePr>
        <p:xfrm>
          <a:off x="6563097" y="1243631"/>
          <a:ext cx="5399518" cy="352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357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DE2ACE-5ECB-AFD4-9629-82D750C4DF86}"/>
              </a:ext>
            </a:extLst>
          </p:cNvPr>
          <p:cNvSpPr txBox="1"/>
          <p:nvPr/>
        </p:nvSpPr>
        <p:spPr>
          <a:xfrm>
            <a:off x="3048786" y="36208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Salary Distribution by Department &amp; Gender</a:t>
            </a:r>
            <a:endParaRPr lang="en-US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2F215E1-21BB-3CD0-3D67-C1E227BFA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4236784"/>
              </p:ext>
            </p:extLst>
          </p:nvPr>
        </p:nvGraphicFramePr>
        <p:xfrm>
          <a:off x="2149311" y="1310325"/>
          <a:ext cx="7560297" cy="5279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667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C979F58-DE59-3669-556A-2960BA7E8A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1285241"/>
              </p:ext>
            </p:extLst>
          </p:nvPr>
        </p:nvGraphicFramePr>
        <p:xfrm>
          <a:off x="92303" y="2375554"/>
          <a:ext cx="5920034" cy="3893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1B211D9-2877-2AFB-0F3C-89B8B5430F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507689"/>
              </p:ext>
            </p:extLst>
          </p:nvPr>
        </p:nvGraphicFramePr>
        <p:xfrm>
          <a:off x="6012337" y="2306426"/>
          <a:ext cx="52578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D4B0C47-C433-A0F4-84EE-1A5CC61FA6B7}"/>
              </a:ext>
            </a:extLst>
          </p:cNvPr>
          <p:cNvSpPr txBox="1"/>
          <p:nvPr/>
        </p:nvSpPr>
        <p:spPr>
          <a:xfrm>
            <a:off x="3311165" y="73916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Salary Distribution by Department &amp; Gender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604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8CE135-0522-10E7-E89C-20460E97197A}"/>
              </a:ext>
            </a:extLst>
          </p:cNvPr>
          <p:cNvSpPr txBox="1"/>
          <p:nvPr/>
        </p:nvSpPr>
        <p:spPr>
          <a:xfrm>
            <a:off x="1878684" y="270722"/>
            <a:ext cx="824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Employment Status</a:t>
            </a:r>
            <a:r>
              <a:rPr lang="en-GB" dirty="0"/>
              <a:t>, </a:t>
            </a:r>
            <a:r>
              <a:rPr lang="en-GB" b="1" dirty="0"/>
              <a:t>Termination Reasons</a:t>
            </a:r>
            <a:r>
              <a:rPr lang="en-GB" dirty="0"/>
              <a:t>, and </a:t>
            </a:r>
            <a:r>
              <a:rPr lang="en-GB" b="1" dirty="0"/>
              <a:t>Performance/Attendance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C606938-A4B0-FB8F-73BF-956BB1921C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8275294"/>
              </p:ext>
            </p:extLst>
          </p:nvPr>
        </p:nvGraphicFramePr>
        <p:xfrm>
          <a:off x="-266484" y="1673303"/>
          <a:ext cx="6362483" cy="4340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F85C903-7E35-B8BB-516F-4370CA026D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6576722"/>
              </p:ext>
            </p:extLst>
          </p:nvPr>
        </p:nvGraphicFramePr>
        <p:xfrm>
          <a:off x="6229153" y="1298934"/>
          <a:ext cx="5469510" cy="3763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8688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B26EA2E-6CEF-20AE-2B78-B80ADF16BD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8161659"/>
              </p:ext>
            </p:extLst>
          </p:nvPr>
        </p:nvGraphicFramePr>
        <p:xfrm>
          <a:off x="-414779" y="1941923"/>
          <a:ext cx="5618375" cy="3412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A5C264-E68C-F279-EA6D-DC7665453359}"/>
              </a:ext>
            </a:extLst>
          </p:cNvPr>
          <p:cNvSpPr txBox="1"/>
          <p:nvPr/>
        </p:nvSpPr>
        <p:spPr>
          <a:xfrm>
            <a:off x="4150150" y="258393"/>
            <a:ext cx="6301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ysClr val="windowText" lastClr="000000"/>
                </a:solidFill>
              </a:rPr>
              <a:t>Performance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86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BDAD813-807E-EE94-62D3-4F0E0FE7C5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8909816"/>
              </p:ext>
            </p:extLst>
          </p:nvPr>
        </p:nvGraphicFramePr>
        <p:xfrm>
          <a:off x="336047" y="292230"/>
          <a:ext cx="7016859" cy="4260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714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70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71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Elham Far</dc:creator>
  <cp:lastModifiedBy>Elham Far</cp:lastModifiedBy>
  <cp:revision>15</cp:revision>
  <dcterms:created xsi:type="dcterms:W3CDTF">2025-11-13T14:42:32Z</dcterms:created>
  <dcterms:modified xsi:type="dcterms:W3CDTF">2025-11-13T20:10:56Z</dcterms:modified>
</cp:coreProperties>
</file>